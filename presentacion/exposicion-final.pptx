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6" r:id="rId10"/>
    <p:sldId id="277" r:id="rId11"/>
    <p:sldId id="264" r:id="rId12"/>
    <p:sldId id="265" r:id="rId13"/>
    <p:sldId id="266" r:id="rId14"/>
    <p:sldId id="267" r:id="rId15"/>
    <p:sldId id="278" r:id="rId28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3A5F"/>
                </a:solidFill>
              </a:defRPr>
            </a:pPr>
            <a:r>
              <a:t>Análisis y Simulación del Servicio de un Call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Universidad Nacional Federico Villarreal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Facultad de Ingeniería Industrial y de Sistemas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Simulación de Sistemas — Trabajo Final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endParaRPr/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Integrantes: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[Apellidos, Nombres — integrante 1]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[Apellidos, Nombres — integrante 2]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[Apellidos, Nombres — integrante 3]</a:t>
            </a:r>
          </a:p>
          <a:p>
            <a:pPr algn="ctr">
              <a:defRPr sz="1800">
                <a:solidFill>
                  <a:srgbClr val="404040"/>
                </a:solidFill>
              </a:defRPr>
            </a:pPr>
            <a:r>
              <a:t>[Apellidos, Nombres — integrante 4]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1. Planteamiento del problema y objetivos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2. Modelo conceptual y BPMN AS-IS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3. Datos y análisis estadístico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4. Distribuciones seleccionadas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5. Modelo computacional (simulación)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6. Verificación y validación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7. Resultados AS-IS y escenarios What-If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8. Propuesta TO-BE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9. Comparación AS-IS vs. TO-BE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10. Conclusiones y recomendaciones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Planteamiento del problema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Call center de 4 agentes, horario 8:00 a.m. – 6:00 p.m., lunes a viernes.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Objetivo del gerente: 90% de llamadas atendidas en ≤ 60 segundos.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Dataset real: "Call Centre Queue Simulation" (Bangs, 2021, Kaggle) — 51,708 llamadas de 2021.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Hallazgo clave: el cumplimiento del SLA se deterioró progresivamente durante el año.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Enero: 97.47% de cumplimiento (3,000 llamadas)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Diciembre: 83.45% de cumplimiento (6,249 llamadas — el doble)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¿Por qué requiere simulación? El sistema tiene llegadas y servicios aleatorios (no deterministas); un cálculo simple no captura la variabilidad ni el efecto de la cola.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Objetivos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Objetivo general: diseñar y validar un modelo de simulación de eventos discretos que permita evaluar la capacidad de atención del call center y proponer una mejora basada en evidencia.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Objetivos específicos: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Analizar estadísticamente los datos reales de 2021.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Seleccionar y validar las distribuciones de llegada y servicio.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Construir y validar un modelo computacional del escenario AS-IS.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Evaluar escenarios What-If (optimista, normal, pesimista).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Proponer y comparar un escenario TO-BE.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Criterio de éxito principal: recuperar el 90% de cumplimiento del SLA en el mes de mayor demanda (diciembre).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Modelo conceptual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49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4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Elemento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Descripción aplicada al caso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Entidades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Llamadas telefónicas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Recursos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 agentes de atención (homogéneos)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Eventos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Llegada, inicio de atención, fin de atención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Cola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FIFO (primero en llegar, primero en ser atendido)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Variables de entrada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Tiempo entre llegadas (λ), tiempo de servicio (μ)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Variables de salida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Espera promedio, % que cumple SLA, utilización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Frontera del sistema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Desde que el cliente marca hasta que finaliza la llamada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91212" y="233785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dirty="0" err="1"/>
              <a:t>Diagrama</a:t>
            </a:r>
            <a:r>
              <a:rPr dirty="0"/>
              <a:t> BPMN — </a:t>
            </a:r>
            <a:r>
              <a:rPr dirty="0" err="1"/>
              <a:t>Situación</a:t>
            </a:r>
            <a:r>
              <a:rPr dirty="0"/>
              <a:t> actual (AS-IS)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S-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6" y="1607351"/>
            <a:ext cx="12111084" cy="44066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3 carriles: Cliente, Sistema/Central Telefónica, Agente de Atención. Cuello de botella: cola FIFO cuando no hay agente disponible.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Datos utilizados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Fuente: dataset público de Kaggle (Bangs, 2021), 51,708 registros de llamadas, año completo 2021.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Columnas: hora de inicio, hora de contestada, hora de finalizada, tiempo de espera, tiempo de servicio, cumple estándar.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Variable derivada (no viene en el CSV): tiempo entre llegadas — calculada restando el instante de una llamada menos la anterior, agrupando por día.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Verificación de calidad: sin valores nulos, sin duplicados, sin inconsistencias temporales.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Parámetros oficiales confirmados por la ficha del dataset: 4 agentes, servicio promedio ≈ 5 min, SLA = 90% en ≤ 60 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Análisis estadístico — resumen de las 3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106984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Estadístico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Espera (seg)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Servicio (seg)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Entre llegadas (seg)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17.03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299.10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180.58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Mediana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Desv. estándar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64.06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299.87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188.05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Mínimo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Máximo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983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2718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Percentil 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688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418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877F19B2-CBC5-8244-34D4-C1DADCE2B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7777"/>
            <a:ext cx="12192000" cy="6203623"/>
          </a:xfrm>
          <a:prstGeom prst="rect">
            <a:avLst/>
          </a:prstGeom>
        </p:spPr>
      </p:pic>
      <p:sp>
        <p:nvSpPr>
          <p:cNvPr id="4" name="TextBox 1">
            <a:extLst>
              <a:ext uri="{FF2B5EF4-FFF2-40B4-BE49-F238E27FC236}">
                <a16:creationId xmlns:a16="http://schemas.microsoft.com/office/drawing/2014/main" id="{30D2A3E3-5B0A-30C0-1321-D7CE2261A51B}"/>
              </a:ext>
            </a:extLst>
          </p:cNvPr>
          <p:cNvSpPr txBox="1"/>
          <p:nvPr/>
        </p:nvSpPr>
        <p:spPr>
          <a:xfrm>
            <a:off x="457200" y="228600"/>
            <a:ext cx="468416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lang="es-ES" dirty="0"/>
              <a:t>Cantidad de llamadas por mes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10542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4BF3426E-D2B5-2508-BFE7-76928861E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9157"/>
            <a:ext cx="12192000" cy="6096000"/>
          </a:xfrm>
          <a:prstGeom prst="rect">
            <a:avLst/>
          </a:prstGeom>
        </p:spPr>
      </p:pic>
      <p:sp>
        <p:nvSpPr>
          <p:cNvPr id="3" name="TextBox 1">
            <a:extLst>
              <a:ext uri="{FF2B5EF4-FFF2-40B4-BE49-F238E27FC236}">
                <a16:creationId xmlns:a16="http://schemas.microsoft.com/office/drawing/2014/main" id="{D8C1685F-5132-BB9F-5163-480128026340}"/>
              </a:ext>
            </a:extLst>
          </p:cNvPr>
          <p:cNvSpPr txBox="1"/>
          <p:nvPr/>
        </p:nvSpPr>
        <p:spPr>
          <a:xfrm>
            <a:off x="457200" y="228600"/>
            <a:ext cx="509992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lang="es-ES" dirty="0"/>
              <a:t>Porcentaje </a:t>
            </a:r>
            <a:r>
              <a:rPr dirty="0" err="1"/>
              <a:t>cumplimiento</a:t>
            </a:r>
            <a:r>
              <a:rPr dirty="0"/>
              <a:t> del SLA</a:t>
            </a:r>
          </a:p>
        </p:txBody>
      </p:sp>
    </p:spTree>
    <p:extLst>
      <p:ext uri="{BB962C8B-B14F-4D97-AF65-F5344CB8AC3E}">
        <p14:creationId xmlns:p14="http://schemas.microsoft.com/office/powerpoint/2010/main" val="14874752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rPr dirty="0" err="1"/>
              <a:t>Hallazgo</a:t>
            </a:r>
            <a:r>
              <a:rPr dirty="0"/>
              <a:t> central: </a:t>
            </a:r>
            <a:r>
              <a:rPr dirty="0" err="1"/>
              <a:t>evolución</a:t>
            </a:r>
            <a:r>
              <a:rPr dirty="0"/>
              <a:t> </a:t>
            </a:r>
            <a:r>
              <a:rPr dirty="0" err="1"/>
              <a:t>mensual</a:t>
            </a:r>
            <a:r>
              <a:rPr dirty="0"/>
              <a:t> del </a:t>
            </a:r>
            <a:r>
              <a:rPr dirty="0" err="1"/>
              <a:t>cumplimiento</a:t>
            </a:r>
            <a:r>
              <a:rPr dirty="0"/>
              <a:t> del SLA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volucion_mensual_s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447" y="1234440"/>
            <a:ext cx="86868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El cumplimiento cae por debajo del objetivo del 90% a partir de septiembre, y sigue empeorando hasta diciembre.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Distribuciones seleccionadas: Exponencial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juste_expone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5349240"/>
            <a:ext cx="1069848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Justificación: media ≈ desviación estándar (propiedad de la distribución Exponencial), confirmado con la prueba de Kolmogorov-Smirnov:</a:t>
            </a:r>
          </a:p>
          <a:p>
            <a:pPr>
              <a:defRPr sz="1300" i="0">
                <a:solidFill>
                  <a:srgbClr val="404040"/>
                </a:solidFill>
              </a:defRPr>
            </a:pPr>
            <a:r>
              <a:t>Tiempo de servicio: Media = 299.10 s   |   Desv. estándar = 299.87 s   (casi idénticas)</a:t>
            </a:r>
          </a:p>
          <a:p>
            <a:pPr>
              <a:defRPr sz="1300" i="0">
                <a:solidFill>
                  <a:srgbClr val="404040"/>
                </a:solidFill>
              </a:defRPr>
            </a:pPr>
            <a:r>
              <a:t>Tiempo entre llegadas: Media = 180.58 s   |   Desv. estándar = 188.05 s   (muy cercanas)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Modelo computacional — el motor de simulación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404040"/>
                </a:solidFill>
              </a:defRPr>
            </a:pPr>
            <a:r>
              <a:t>• Construido en Python, con NumPy y SciPy para la generación de variables aleatorias.</a:t>
            </a:r>
          </a:p>
          <a:p>
            <a:pPr>
              <a:spcAft>
                <a:spcPts val="800"/>
              </a:spcAft>
              <a:defRPr sz="1900">
                <a:solidFill>
                  <a:srgbClr val="404040"/>
                </a:solidFill>
              </a:defRPr>
            </a:pPr>
            <a:r>
              <a:t>• Lógica central del motor (bucle de asignación de agentes):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 – agente = np.argmin(tiempo_libre_agente)  → el agente que se libera primero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 – inicio_atencion = max(llegada, agente_libre)  → hay espera si el agente seguía ocupado</a:t>
            </a:r>
          </a:p>
          <a:p>
            <a:pPr>
              <a:spcAft>
                <a:spcPts val="800"/>
              </a:spcAft>
              <a:defRPr sz="1900">
                <a:solidFill>
                  <a:srgbClr val="404040"/>
                </a:solidFill>
              </a:defRPr>
            </a:pPr>
            <a:r>
              <a:t>• Fórmulas para estimar λ y μ (tasa = 1 / tiempo promedio):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 – λ = 1 / media(tiempo_entre_llegadas) = 1 / 131.86 s = 0.00758 llamadas/seg  (diciembre)</a:t>
            </a:r>
          </a:p>
          <a:p>
            <a:pPr>
              <a:spcAft>
                <a:spcPts val="800"/>
              </a:spcAft>
              <a:defRPr sz="1600">
                <a:solidFill>
                  <a:srgbClr val="404040"/>
                </a:solidFill>
              </a:defRPr>
            </a:pPr>
            <a:r>
              <a:t>   – μ = 1 / media(tiempo_servicio) = 1 / 299.10 s = 0.00334 llamadas/seg  (todo el año)</a:t>
            </a:r>
          </a:p>
          <a:p>
            <a:pPr>
              <a:spcAft>
                <a:spcPts val="800"/>
              </a:spcAft>
              <a:defRPr sz="1900">
                <a:solidFill>
                  <a:srgbClr val="404040"/>
                </a:solidFill>
              </a:defRPr>
            </a:pPr>
            <a:r>
              <a:t>• 4 agentes, 6,249 llamadas simuladas (diciembre, escenario AS-IS).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Verificación y validación del modelo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Verificación lógica: comportamiento esperado en baja carga, utilización teórica (56.71%) ≈ simulada (56.17%), condición de estabilidad λ &lt; c·μ.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Validación conceptual: coherencia entre el motor, el modelo conceptual y el BPMN AS-IS.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t>• Validación con datos — 4 niveles de evidencia: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1 corrida (semilla 42): 36.45 s / 83.85% simulado vs. 35.54 s / 83.45% real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30 réplicas: el dato real cae dentro del rango [79.77%, 85.52%]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Validación en los 12 meses: diferencia simulado vs. real siempre &lt; 1 punto porcentual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   – Prueba de Kolmogorov-Smirnov de 2 muestras: p-valor = 0.9738 (no se rechaza H0)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Validación del modelo: real vs. simulado, mes a 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im_validacion_12_me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4400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En los 12 meses la diferencia entre real y simulado nunca supera 1 punto porcentual - el modelo no solo acierta en diciembre, acierta todo el año.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Resultados del escenario AS-IS (30 réplicas)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replicas_as_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4 agentes, demanda de diciembre: espera promedio 42.36 s, 82.85% de cumplimiento del SLA (no alcanza el objetivo de 90%).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Escenarios What-If: Optimista / Normal / Pesimista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mparacion_e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4000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Optimista (enero) 97.84% simulado vs. 97.47% real. Normal 93.83%. Pesimista (diciembre) 82.82%, consistente con el AS-IS.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Propuesta TO-BE: ¿cuántos agentes hacen falta?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sim_barrido_agentes_to_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34440"/>
            <a:ext cx="10515600" cy="375557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Con 5 agentes (uno más), el SLA sube de 82.39% a 94.43% y la espera baja de 43.17 s a 10.51 s (-75%).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Diagrama BPMN — Propuesta TO-BE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TO-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234440"/>
            <a:ext cx="10515600" cy="378859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4 carriles (se agrega Supervisor/Planificación): decide activar el 5.º agente en temporada alta (set-dic).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Comparación final: AS-IS vs. TO-BE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mparacion_as_is_to_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247" y="1234440"/>
            <a:ext cx="9601200" cy="3429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309360"/>
            <a:ext cx="10698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404040"/>
                </a:solidFill>
              </a:defRPr>
            </a:pPr>
            <a:r>
              <a:t>Espera: 43.17s → 10.51s (-75.6%). SLA: 82.39% → 94.43% (+12 puntos). Utilización: 56.9% → 45.5% (baja pero sana).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Conclusiones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El </a:t>
            </a:r>
            <a:r>
              <a:rPr dirty="0" err="1"/>
              <a:t>deterioro</a:t>
            </a:r>
            <a:r>
              <a:rPr dirty="0"/>
              <a:t> del SLA es </a:t>
            </a:r>
            <a:r>
              <a:rPr dirty="0" err="1"/>
              <a:t>causado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crecimiento</a:t>
            </a:r>
            <a:r>
              <a:rPr dirty="0"/>
              <a:t> de la </a:t>
            </a:r>
            <a:r>
              <a:rPr dirty="0" err="1"/>
              <a:t>demanda</a:t>
            </a:r>
            <a:r>
              <a:rPr dirty="0"/>
              <a:t> (x2 entre </a:t>
            </a:r>
            <a:r>
              <a:rPr dirty="0" err="1"/>
              <a:t>enero</a:t>
            </a:r>
            <a:r>
              <a:rPr dirty="0"/>
              <a:t> y </a:t>
            </a:r>
            <a:r>
              <a:rPr dirty="0" err="1"/>
              <a:t>diciembre</a:t>
            </a:r>
            <a:r>
              <a:rPr dirty="0"/>
              <a:t>) con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fija</a:t>
            </a:r>
            <a:r>
              <a:rPr dirty="0"/>
              <a:t> de 4 </a:t>
            </a:r>
            <a:r>
              <a:rPr dirty="0" err="1"/>
              <a:t>agentes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El </a:t>
            </a:r>
            <a:r>
              <a:rPr dirty="0" err="1"/>
              <a:t>modelo</a:t>
            </a:r>
            <a:r>
              <a:rPr dirty="0"/>
              <a:t> de </a:t>
            </a:r>
            <a:r>
              <a:rPr dirty="0" err="1"/>
              <a:t>simulación</a:t>
            </a:r>
            <a:r>
              <a:rPr dirty="0"/>
              <a:t>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validado</a:t>
            </a:r>
            <a:r>
              <a:rPr dirty="0"/>
              <a:t> con </a:t>
            </a:r>
            <a:r>
              <a:rPr dirty="0" err="1"/>
              <a:t>múltiples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 de </a:t>
            </a:r>
            <a:r>
              <a:rPr dirty="0" err="1"/>
              <a:t>evidencia</a:t>
            </a:r>
            <a:r>
              <a:rPr dirty="0"/>
              <a:t>: corrida individual, 30 </a:t>
            </a:r>
            <a:r>
              <a:rPr dirty="0" err="1"/>
              <a:t>réplicas</a:t>
            </a:r>
            <a:r>
              <a:rPr dirty="0"/>
              <a:t>, 12 meses, y </a:t>
            </a:r>
            <a:r>
              <a:rPr dirty="0" err="1"/>
              <a:t>prueba</a:t>
            </a:r>
            <a:r>
              <a:rPr dirty="0"/>
              <a:t> K-S formal (p=0.97).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Con 5 </a:t>
            </a:r>
            <a:r>
              <a:rPr dirty="0" err="1"/>
              <a:t>agentes</a:t>
            </a:r>
            <a:r>
              <a:rPr dirty="0"/>
              <a:t> se </a:t>
            </a:r>
            <a:r>
              <a:rPr dirty="0" err="1"/>
              <a:t>recupera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objetivo</a:t>
            </a:r>
            <a:r>
              <a:rPr dirty="0"/>
              <a:t> de 90% de SLA (94.43%) y se reduce la </a:t>
            </a:r>
            <a:r>
              <a:rPr dirty="0" err="1"/>
              <a:t>espera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75%.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3 de 4 </a:t>
            </a:r>
            <a:r>
              <a:rPr dirty="0" err="1"/>
              <a:t>criterios</a:t>
            </a:r>
            <a:r>
              <a:rPr dirty="0"/>
              <a:t> de </a:t>
            </a:r>
            <a:r>
              <a:rPr dirty="0" err="1"/>
              <a:t>éxito</a:t>
            </a:r>
            <a:r>
              <a:rPr dirty="0"/>
              <a:t> se </a:t>
            </a:r>
            <a:r>
              <a:rPr dirty="0" err="1"/>
              <a:t>cumplieron</a:t>
            </a:r>
            <a:r>
              <a:rPr dirty="0"/>
              <a:t>; la </a:t>
            </a:r>
            <a:r>
              <a:rPr dirty="0" err="1"/>
              <a:t>utilización</a:t>
            </a:r>
            <a:r>
              <a:rPr dirty="0"/>
              <a:t> TO-BE (45.5%) </a:t>
            </a:r>
            <a:r>
              <a:rPr dirty="0" err="1"/>
              <a:t>queda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debajo</a:t>
            </a:r>
            <a:r>
              <a:rPr dirty="0"/>
              <a:t> del </a:t>
            </a:r>
            <a:r>
              <a:rPr dirty="0" err="1"/>
              <a:t>rango</a:t>
            </a:r>
            <a:r>
              <a:rPr dirty="0"/>
              <a:t> ideal (70-85%) —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tensión</a:t>
            </a:r>
            <a:r>
              <a:rPr dirty="0"/>
              <a:t> </a:t>
            </a:r>
            <a:r>
              <a:rPr dirty="0" err="1"/>
              <a:t>esperada</a:t>
            </a:r>
            <a:r>
              <a:rPr dirty="0"/>
              <a:t> entre </a:t>
            </a:r>
            <a:r>
              <a:rPr dirty="0" err="1"/>
              <a:t>calidad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 y </a:t>
            </a:r>
            <a:r>
              <a:rPr dirty="0" err="1"/>
              <a:t>eficiencia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700">
                <a:solidFill>
                  <a:srgbClr val="404040"/>
                </a:solidFill>
              </a:defRPr>
            </a:pPr>
            <a:r>
              <a:t>• Supuesto de mayor impacto: μ (velocidad de atención) se asume constante todo el año — verificado con datos reales (varía solo entre 293 y 307 segundos, &lt;5%, en los 12 meses); es clave porque sostiene la validez de comparar meses entre sí.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Recomendaciones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11247120" cy="3175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</a:t>
            </a:r>
            <a:r>
              <a:rPr dirty="0" err="1"/>
              <a:t>Implementar</a:t>
            </a:r>
            <a:r>
              <a:rPr dirty="0"/>
              <a:t> la </a:t>
            </a:r>
            <a:r>
              <a:rPr dirty="0" err="1"/>
              <a:t>dotación</a:t>
            </a:r>
            <a:r>
              <a:rPr dirty="0"/>
              <a:t> de 5 </a:t>
            </a:r>
            <a:r>
              <a:rPr dirty="0" err="1"/>
              <a:t>agentes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periodos</a:t>
            </a:r>
            <a:r>
              <a:rPr dirty="0"/>
              <a:t> de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demanda</a:t>
            </a:r>
            <a:r>
              <a:rPr dirty="0"/>
              <a:t> (</a:t>
            </a:r>
            <a:r>
              <a:rPr dirty="0" err="1"/>
              <a:t>septiembre</a:t>
            </a:r>
            <a:r>
              <a:rPr dirty="0"/>
              <a:t> a </a:t>
            </a:r>
            <a:r>
              <a:rPr dirty="0" err="1"/>
              <a:t>diciembre</a:t>
            </a:r>
            <a:r>
              <a:rPr dirty="0"/>
              <a:t>).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</a:t>
            </a:r>
            <a:r>
              <a:rPr dirty="0" err="1"/>
              <a:t>Reevaluar</a:t>
            </a:r>
            <a:r>
              <a:rPr dirty="0"/>
              <a:t> </a:t>
            </a:r>
            <a:r>
              <a:rPr dirty="0" err="1"/>
              <a:t>periódicamente</a:t>
            </a:r>
            <a:r>
              <a:rPr dirty="0"/>
              <a:t> la </a:t>
            </a:r>
            <a:r>
              <a:rPr dirty="0" err="1"/>
              <a:t>dotación</a:t>
            </a:r>
            <a:r>
              <a:rPr dirty="0"/>
              <a:t>, dado que la </a:t>
            </a:r>
            <a:r>
              <a:rPr dirty="0" err="1"/>
              <a:t>demanda</a:t>
            </a:r>
            <a:r>
              <a:rPr dirty="0"/>
              <a:t> </a:t>
            </a:r>
            <a:r>
              <a:rPr dirty="0" err="1"/>
              <a:t>mostró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tendencia</a:t>
            </a:r>
            <a:r>
              <a:rPr dirty="0"/>
              <a:t> de </a:t>
            </a:r>
            <a:r>
              <a:rPr dirty="0" err="1"/>
              <a:t>crecimiento</a:t>
            </a:r>
            <a:r>
              <a:rPr dirty="0"/>
              <a:t> </a:t>
            </a:r>
            <a:r>
              <a:rPr dirty="0" err="1"/>
              <a:t>sostenido</a:t>
            </a:r>
            <a:r>
              <a:rPr dirty="0"/>
              <a:t> </a:t>
            </a:r>
            <a:r>
              <a:rPr dirty="0" err="1"/>
              <a:t>durante</a:t>
            </a:r>
            <a:r>
              <a:rPr dirty="0"/>
              <a:t> 2021.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</a:t>
            </a:r>
            <a:r>
              <a:rPr dirty="0" err="1"/>
              <a:t>Evaluar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política</a:t>
            </a:r>
            <a:r>
              <a:rPr dirty="0"/>
              <a:t> de </a:t>
            </a:r>
            <a:r>
              <a:rPr dirty="0" err="1"/>
              <a:t>dotación</a:t>
            </a:r>
            <a:r>
              <a:rPr dirty="0"/>
              <a:t> variable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temporada</a:t>
            </a:r>
            <a:r>
              <a:rPr dirty="0"/>
              <a:t> (4 </a:t>
            </a:r>
            <a:r>
              <a:rPr dirty="0" err="1"/>
              <a:t>agentes</a:t>
            </a:r>
            <a:r>
              <a:rPr dirty="0"/>
              <a:t> primer </a:t>
            </a:r>
            <a:r>
              <a:rPr dirty="0" err="1"/>
              <a:t>semestre</a:t>
            </a:r>
            <a:r>
              <a:rPr dirty="0"/>
              <a:t>, 5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segundo</a:t>
            </a:r>
            <a:r>
              <a:rPr dirty="0"/>
              <a:t>) para </a:t>
            </a:r>
            <a:r>
              <a:rPr dirty="0" err="1"/>
              <a:t>equilibrar</a:t>
            </a:r>
            <a:r>
              <a:rPr dirty="0"/>
              <a:t> SLA y </a:t>
            </a:r>
            <a:r>
              <a:rPr dirty="0" err="1"/>
              <a:t>utilización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404040"/>
                </a:solidFill>
              </a:defRPr>
            </a:pPr>
            <a:r>
              <a:rPr dirty="0"/>
              <a:t>• Para </a:t>
            </a:r>
            <a:r>
              <a:rPr dirty="0" err="1"/>
              <a:t>trabajos</a:t>
            </a:r>
            <a:r>
              <a:rPr dirty="0"/>
              <a:t> </a:t>
            </a:r>
            <a:r>
              <a:rPr dirty="0" err="1"/>
              <a:t>futuros</a:t>
            </a:r>
            <a:r>
              <a:rPr dirty="0"/>
              <a:t>: </a:t>
            </a:r>
            <a:r>
              <a:rPr dirty="0" err="1"/>
              <a:t>modelar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abandono</a:t>
            </a:r>
            <a:r>
              <a:rPr dirty="0"/>
              <a:t> de </a:t>
            </a:r>
            <a:r>
              <a:rPr dirty="0" err="1"/>
              <a:t>llamadas</a:t>
            </a:r>
            <a:r>
              <a:rPr dirty="0"/>
              <a:t>, </a:t>
            </a:r>
            <a:r>
              <a:rPr dirty="0" err="1"/>
              <a:t>servicio</a:t>
            </a:r>
            <a:r>
              <a:rPr dirty="0"/>
              <a:t> </a:t>
            </a:r>
            <a:r>
              <a:rPr dirty="0" err="1"/>
              <a:t>heterogéneo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agente</a:t>
            </a:r>
            <a:r>
              <a:rPr dirty="0"/>
              <a:t>, y </a:t>
            </a:r>
            <a:r>
              <a:rPr dirty="0" err="1"/>
              <a:t>prioridades</a:t>
            </a:r>
            <a:r>
              <a:rPr dirty="0"/>
              <a:t> de </a:t>
            </a:r>
            <a:r>
              <a:rPr dirty="0" err="1"/>
              <a:t>atención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10312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1F3A5F"/>
                </a:solidFill>
              </a:defRPr>
            </a:pPr>
            <a: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566160"/>
            <a:ext cx="106984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404040"/>
                </a:solidFill>
              </a:defRPr>
            </a:pPr>
            <a:r>
              <a:t>Preguntas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1405</Words>
  <Application>Microsoft Office PowerPoint</Application>
  <PresentationFormat>Panorámica</PresentationFormat>
  <Paragraphs>135</Paragraphs>
  <Slides>22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Carlos Barboza chaname</cp:lastModifiedBy>
  <cp:revision>3</cp:revision>
  <dcterms:created xsi:type="dcterms:W3CDTF">2013-01-27T09:14:16Z</dcterms:created>
  <dcterms:modified xsi:type="dcterms:W3CDTF">2026-07-18T20:27:23Z</dcterms:modified>
  <cp:category/>
</cp:coreProperties>
</file>